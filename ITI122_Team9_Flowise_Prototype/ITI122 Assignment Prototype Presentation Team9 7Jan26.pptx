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6" r:id="rId5"/>
    <p:sldId id="267" r:id="rId6"/>
    <p:sldId id="268" r:id="rId7"/>
    <p:sldId id="261" r:id="rId8"/>
    <p:sldId id="269" r:id="rId9"/>
    <p:sldId id="270" r:id="rId10"/>
    <p:sldId id="271" r:id="rId11"/>
    <p:sldId id="258" r:id="rId12"/>
    <p:sldId id="275" r:id="rId13"/>
    <p:sldId id="274" r:id="rId14"/>
    <p:sldId id="262" r:id="rId15"/>
    <p:sldId id="272" r:id="rId16"/>
    <p:sldId id="273" r:id="rId17"/>
    <p:sldId id="259" r:id="rId18"/>
    <p:sldId id="260" r:id="rId19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2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2D597-4595-4840-45A9-84BA9877F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4AF9B6-E5C7-CC3A-2115-33E12A33D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72BD8-3EC5-C7AA-0636-643475482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F7D3E-23DE-4DED-B08B-F1FA3618E88F}" type="datetimeFigureOut">
              <a:rPr lang="en-SG" smtClean="0"/>
              <a:t>10/1/2026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C69742-5726-CC50-C27B-A7FD1B00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5BF4A-DCFF-C94C-803A-EE9324FDF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8F5BE-7D5A-4CCB-A2BD-FC7E2B7421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85161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D9EB9-A56F-E4E3-D8FD-E91E4A416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31301-A704-EEAF-DDE7-2F3ADD63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06A16-6370-76F6-4B7A-FF9285C52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F7D3E-23DE-4DED-B08B-F1FA3618E88F}" type="datetimeFigureOut">
              <a:rPr lang="en-SG" smtClean="0"/>
              <a:t>10/1/2026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27615-AD79-76FE-159C-A6DC7B3A7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B30D0-78CE-09B4-C878-D272D14E6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8F5BE-7D5A-4CCB-A2BD-FC7E2B7421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71489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3684-9202-8EE2-D1D8-0124B9DF0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138BB-EA83-4786-DD6A-1471F4B95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C53E0-FB3F-F14F-7EAB-17FF01F0A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F7D3E-23DE-4DED-B08B-F1FA3618E88F}" type="datetimeFigureOut">
              <a:rPr lang="en-SG" smtClean="0"/>
              <a:t>10/1/2026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BE662-552A-FD8B-FAF3-7A19B4F46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F15D4-9776-5780-2DF0-E690B1218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8F5BE-7D5A-4CCB-A2BD-FC7E2B7421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1487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A5A08-29F5-87FB-47CA-2CC626336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26266-171F-C32C-363A-44B41B225A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5277CC-8E45-3BF2-B989-8A68ED369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E58C3-6AD6-47ED-336D-38187494B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F7D3E-23DE-4DED-B08B-F1FA3618E88F}" type="datetimeFigureOut">
              <a:rPr lang="en-SG" smtClean="0"/>
              <a:t>10/1/2026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36EFA-7AEF-BAB2-AD05-3E76BB7BB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4F5387-91BD-ED4F-F1E2-7F5267043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8F5BE-7D5A-4CCB-A2BD-FC7E2B7421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70980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B5AAD-3889-3518-3622-284A4E43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221E2-05FB-A29E-9D4F-3AC1DE5A8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7F4FB-7BBA-E9DD-FE61-915E8754D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784002-88CA-6033-199B-5F25F8F9FD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618B5C-1002-3A4F-C88B-E3EE64E388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CB50F4-3A50-0E96-038D-EF7721429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F7D3E-23DE-4DED-B08B-F1FA3618E88F}" type="datetimeFigureOut">
              <a:rPr lang="en-SG" smtClean="0"/>
              <a:t>10/1/2026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E4DF40-B64F-4140-A51D-D8FE7372F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5FF80C-94DD-BC7C-F52F-524CD7E3C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8F5BE-7D5A-4CCB-A2BD-FC7E2B7421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03703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764FC-FB3F-A868-FBD7-A3FD4691C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EA0FEB-6245-DAFC-8A57-16110D357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F7D3E-23DE-4DED-B08B-F1FA3618E88F}" type="datetimeFigureOut">
              <a:rPr lang="en-SG" smtClean="0"/>
              <a:t>10/1/2026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7040D4-7990-D20F-1C7D-9CA47FF65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841619-D5C9-6AD9-302E-DA5CA3B24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8F5BE-7D5A-4CCB-A2BD-FC7E2B7421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3518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D1A397-1165-1629-A4B5-0E0C85330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F7D3E-23DE-4DED-B08B-F1FA3618E88F}" type="datetimeFigureOut">
              <a:rPr lang="en-SG" smtClean="0"/>
              <a:t>10/1/2026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A63BEA-73C2-A32E-93C2-81E028D1B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21E43-978C-E35A-A4B3-6D28DB70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8F5BE-7D5A-4CCB-A2BD-FC7E2B7421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57676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80087-8C9A-C2BB-C0BF-DB59C314A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35B1D-DD67-1E0B-3198-82F80D5D9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B0D77-529A-20C0-2FA8-5E9BE638EF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3B828-9730-114E-CEDC-58DD0A4DB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F7D3E-23DE-4DED-B08B-F1FA3618E88F}" type="datetimeFigureOut">
              <a:rPr lang="en-SG" smtClean="0"/>
              <a:t>10/1/2026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E6F46-CF87-D449-6F37-DD8D31A7F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2FE22-D515-7579-2537-882C42BEF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8F5BE-7D5A-4CCB-A2BD-FC7E2B7421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0471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E815E-34AA-E4D1-DC9A-DAB88AE9B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84FB2D-3763-03AF-72D9-E02EBA22D0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B72430-D342-204A-6F12-8397A67A3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D6559-64C5-4082-7E75-8C2A88E63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F7D3E-23DE-4DED-B08B-F1FA3618E88F}" type="datetimeFigureOut">
              <a:rPr lang="en-SG" smtClean="0"/>
              <a:t>10/1/2026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8580E-968C-A199-35F2-78B82C2E3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A9D50-9CC8-D7E1-C432-C2D0CA178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8F5BE-7D5A-4CCB-A2BD-FC7E2B7421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4646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04D62-CDCE-A6A9-F58E-C1C7D8726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B02646-3B97-3AA1-8554-4EFD610C05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35640-44EE-4DD7-E186-57F6EB451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F7D3E-23DE-4DED-B08B-F1FA3618E88F}" type="datetimeFigureOut">
              <a:rPr lang="en-SG" smtClean="0"/>
              <a:t>10/1/2026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B435C-3220-0348-FE32-0F6FCBA9B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995E2-BC3E-3EC4-ED3F-E710BD6F3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8F5BE-7D5A-4CCB-A2BD-FC7E2B7421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95137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BDB758-A08F-20BF-5F0D-5954E003F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9E9D14-A4DA-08DB-9621-0D942B609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CCB6A-C710-1A1A-117F-5DD9CDF05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F7D3E-23DE-4DED-B08B-F1FA3618E88F}" type="datetimeFigureOut">
              <a:rPr lang="en-SG" smtClean="0"/>
              <a:t>10/1/2026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E0521-B356-6DF9-EDE5-CE5E91254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7CDBA-A09C-928F-B47D-CBC5DDFCA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8F5BE-7D5A-4CCB-A2BD-FC7E2B7421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2027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685094-2DA6-41FE-6451-1E8477FBC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B2F04-2F15-8E85-FEBE-5F61A539E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076108-A3B8-D54B-3A9B-BFB4EFA73A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0F7D3E-23DE-4DED-B08B-F1FA3618E88F}" type="datetimeFigureOut">
              <a:rPr lang="en-SG" smtClean="0"/>
              <a:t>10/1/2026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95036-6814-A1D3-CCCB-86404E305B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AA5D6-3FAC-08C1-37BD-EE763DB387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88F5BE-7D5A-4CCB-A2BD-FC7E2B7421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75293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iti122assignmentteam9.onrender.com/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A26B8-4801-EA28-7C9B-210DBD15DC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SG" sz="4000" dirty="0"/>
              <a:t>ITI122 Assignment</a:t>
            </a:r>
            <a:br>
              <a:rPr lang="en-SG" sz="4000" dirty="0"/>
            </a:br>
            <a:r>
              <a:rPr lang="en-SG" sz="4000" dirty="0"/>
              <a:t>GenAI Prototype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1608E-1D1E-6814-B2D2-73C2BB1CC5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SG" dirty="0"/>
              <a:t>Team 9</a:t>
            </a:r>
          </a:p>
          <a:p>
            <a:r>
              <a:rPr lang="en-SG" dirty="0"/>
              <a:t>Zhu </a:t>
            </a:r>
            <a:r>
              <a:rPr lang="en-SG" dirty="0" err="1"/>
              <a:t>Qihui</a:t>
            </a:r>
            <a:r>
              <a:rPr lang="en-SG" dirty="0"/>
              <a:t>, Oscar (9801937V)</a:t>
            </a:r>
          </a:p>
          <a:p>
            <a:r>
              <a:rPr lang="en-SG" dirty="0"/>
              <a:t>Goh Leng Guan (2778807Y)</a:t>
            </a:r>
          </a:p>
          <a:p>
            <a:r>
              <a:rPr lang="en-SG" dirty="0"/>
              <a:t>Teo </a:t>
            </a:r>
            <a:r>
              <a:rPr lang="en-SG" dirty="0" err="1"/>
              <a:t>Thye</a:t>
            </a:r>
            <a:r>
              <a:rPr lang="en-SG" dirty="0"/>
              <a:t> Soon, Eddie (3897044T)</a:t>
            </a:r>
          </a:p>
        </p:txBody>
      </p:sp>
      <p:pic>
        <p:nvPicPr>
          <p:cNvPr id="1026" name="Picture 2" descr="Contact Us_NYP">
            <a:extLst>
              <a:ext uri="{FF2B5EF4-FFF2-40B4-BE49-F238E27FC236}">
                <a16:creationId xmlns:a16="http://schemas.microsoft.com/office/drawing/2014/main" id="{55013CE7-C243-5997-7399-48837CE89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1066" y="228600"/>
            <a:ext cx="2389868" cy="1962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47637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3F91F-73E4-D24F-B00D-E0313A82D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Problem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236E2-F309-2828-5866-B2C70E3D0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Manual loan assessment is slow, inconsistent, and difficult to scale. Policies change constantly, and outcomes often depend on the evaluator’s experience. </a:t>
            </a:r>
          </a:p>
          <a:p>
            <a:r>
              <a:rPr lang="en-US" dirty="0"/>
              <a:t>Customers rarely receive clear explanations, leading to low transparency and trust.</a:t>
            </a:r>
          </a:p>
          <a:p>
            <a:r>
              <a:rPr lang="en-US" dirty="0"/>
              <a:t>There is a clear need for an automated and explainable loan assessment system.</a:t>
            </a:r>
          </a:p>
          <a:p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57280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69B4D-9CF5-D4D6-70D0-23E01582D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u="sng" dirty="0"/>
              <a:t>Pain Points, Inefficiencies, and Bottlenecks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2135A-6F51-27EC-46C6-17FA760A1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SG" b="1" dirty="0"/>
              <a:t>Manual cross-referencing across multiple systems</a:t>
            </a:r>
            <a:endParaRPr lang="en-SG" dirty="0"/>
          </a:p>
          <a:p>
            <a:pPr lvl="0"/>
            <a:r>
              <a:rPr lang="en-SG" dirty="0"/>
              <a:t>Customer profile, account status, and credit score may sit in different screens or systems.</a:t>
            </a:r>
          </a:p>
          <a:p>
            <a:pPr lvl="0"/>
            <a:r>
              <a:rPr lang="en-SG" dirty="0"/>
              <a:t>Officers repeatedly copy/paste or re-enter values, increasing the chance of mismatches (wrong customer record, outdated credit score).</a:t>
            </a:r>
          </a:p>
          <a:p>
            <a:pPr marL="0" indent="0">
              <a:buNone/>
            </a:pPr>
            <a:r>
              <a:rPr lang="en-SG" b="1" dirty="0"/>
              <a:t>Policy interpretation is repetitive and error-prone</a:t>
            </a:r>
            <a:endParaRPr lang="en-SG" dirty="0"/>
          </a:p>
          <a:p>
            <a:pPr lvl="0"/>
            <a:r>
              <a:rPr lang="en-SG" dirty="0"/>
              <a:t>Mapping “credit score band + account status → risk level + interest rate” is a structured task, but done manually.</a:t>
            </a:r>
          </a:p>
          <a:p>
            <a:pPr lvl="0"/>
            <a:r>
              <a:rPr lang="en-SG" dirty="0"/>
              <a:t>Errors occur when staff misread tables, use the wrong version of a policy document, or overlook a condition.</a:t>
            </a:r>
          </a:p>
          <a:p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8333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995D1-0848-C977-6BFA-C51505E1E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DDBC7-F447-0EE6-B6D5-FA7D3F688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u="sng" dirty="0"/>
              <a:t>Pain Points, Inefficiencies, and Bottlenecks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C9EFC-3272-BF48-5C24-656D2C02F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SG" b="1" dirty="0"/>
              <a:t>Inconsistent application of judgment and overrides</a:t>
            </a:r>
            <a:endParaRPr lang="en-SG" dirty="0"/>
          </a:p>
          <a:p>
            <a:pPr lvl="0"/>
            <a:r>
              <a:rPr lang="en-SG" dirty="0"/>
              <a:t>Even when policies are clear, staff may interpret edge cases differently (e.g., borderline credit score, closed accounts, delinquency history).</a:t>
            </a:r>
          </a:p>
          <a:p>
            <a:pPr lvl="0"/>
            <a:r>
              <a:rPr lang="en-SG" dirty="0"/>
              <a:t>Override rules (such as nationality/PR conditions) can be missed, applied late, or inconsistently documented.</a:t>
            </a:r>
          </a:p>
          <a:p>
            <a:pPr marL="0" indent="0">
              <a:buNone/>
            </a:pPr>
            <a:r>
              <a:rPr lang="en-SG" b="1" dirty="0"/>
              <a:t>Delays caused by verification and back-and-forth</a:t>
            </a:r>
            <a:endParaRPr lang="en-SG" dirty="0"/>
          </a:p>
          <a:p>
            <a:pPr lvl="0"/>
            <a:r>
              <a:rPr lang="en-SG" dirty="0"/>
              <a:t>Waiting for credit bureau pulls, manager reviews, exception approvals, or missing documents slows throughput.</a:t>
            </a:r>
          </a:p>
          <a:p>
            <a:pPr lvl="0"/>
            <a:r>
              <a:rPr lang="en-SG" dirty="0"/>
              <a:t>Applications can sit idle while staff clarify what policy applies or seek concurrence.</a:t>
            </a:r>
          </a:p>
          <a:p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1620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34A48-3D51-EE0E-5C31-5A17D81A0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DD5BD-8D1D-8F00-1E6B-F1A8D45B5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u="sng" dirty="0"/>
              <a:t>Pain Points, Inefficiencies, and Bottlenecks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4A8ED-97D2-05F5-6BE6-D455246AC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SG" b="1" dirty="0"/>
              <a:t>Weak transparency and explainability for customers</a:t>
            </a:r>
            <a:endParaRPr lang="en-SG" dirty="0"/>
          </a:p>
          <a:p>
            <a:pPr lvl="0"/>
            <a:r>
              <a:rPr lang="en-SG" dirty="0"/>
              <a:t>Even when the decision is correct, the explanation is often brief or generic (“did not meet criteria”).</a:t>
            </a:r>
          </a:p>
          <a:p>
            <a:pPr lvl="0"/>
            <a:r>
              <a:rPr lang="en-SG" dirty="0"/>
              <a:t>Staff may struggle to produce a clear, consistent explanation tied to policy factors, especially under time pressure.</a:t>
            </a:r>
          </a:p>
          <a:p>
            <a:pPr marL="0" indent="0">
              <a:buNone/>
            </a:pPr>
            <a:r>
              <a:rPr lang="en-SG" b="1" dirty="0"/>
              <a:t>High operational load during peak periods</a:t>
            </a:r>
            <a:endParaRPr lang="en-SG" dirty="0"/>
          </a:p>
          <a:p>
            <a:pPr lvl="0"/>
            <a:r>
              <a:rPr lang="en-SG" dirty="0"/>
              <a:t>During high application volume, repetitive checks become a bottleneck.</a:t>
            </a:r>
          </a:p>
          <a:p>
            <a:pPr lvl="0"/>
            <a:r>
              <a:rPr lang="en-SG" dirty="0"/>
              <a:t>Quality drops when officers multitask, leading to increased rework, escalations, or customer complaints.</a:t>
            </a:r>
          </a:p>
          <a:p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2087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4AA58-30EC-3AA0-4556-04C203EBA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F625E-3C21-F145-6E4D-7AAE29529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u="sng" dirty="0"/>
              <a:t>Pain Points, Inefficiencies, and Bottlenecks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B4F91-95A5-830D-F390-D6F6470D9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SG" b="1" u="sng" dirty="0"/>
              <a:t>Where Human Judgment, Manual Work, and Delays Typically Occur</a:t>
            </a:r>
            <a:endParaRPr lang="en-SG" dirty="0"/>
          </a:p>
          <a:p>
            <a:pPr lvl="0"/>
            <a:r>
              <a:rPr lang="en-SG" b="1" dirty="0"/>
              <a:t>Human judgment:</a:t>
            </a:r>
            <a:r>
              <a:rPr lang="en-SG" dirty="0"/>
              <a:t> interpreting edge cases, applying overrides/exceptions, deciding “Proceed with Caution” vs “Rejected,” crafting explanations.</a:t>
            </a:r>
          </a:p>
          <a:p>
            <a:pPr lvl="0"/>
            <a:r>
              <a:rPr lang="en-SG" b="1" dirty="0"/>
              <a:t>Repetitive manual work:</a:t>
            </a:r>
            <a:r>
              <a:rPr lang="en-SG" dirty="0"/>
              <a:t> retrieving profile fields, reading policy tables, mapping ranges, documenting justification notes.</a:t>
            </a:r>
          </a:p>
          <a:p>
            <a:pPr lvl="0"/>
            <a:r>
              <a:rPr lang="en-SG" b="1" dirty="0"/>
              <a:t>Delays:</a:t>
            </a:r>
            <a:r>
              <a:rPr lang="en-SG" dirty="0"/>
              <a:t> waiting for credit bureau data, policy clarification, exception approval, missing documents, and internal review queues</a:t>
            </a:r>
          </a:p>
          <a:p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2174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C77EE-E51B-E7C6-69F2-F119BE918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810D2-3A24-2C2D-1729-29F800AC6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Our System – Loan Risk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C6DAD-44CB-3ADA-7DC4-80D1EE012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Gen-AI powered </a:t>
            </a:r>
            <a:r>
              <a:rPr lang="en-SG" b="1" dirty="0"/>
              <a:t>Loan Risk Assessment</a:t>
            </a:r>
            <a:r>
              <a:rPr lang="en-SG" dirty="0"/>
              <a:t> prototype.</a:t>
            </a:r>
          </a:p>
          <a:p>
            <a:endParaRPr lang="en-SG" dirty="0"/>
          </a:p>
          <a:p>
            <a:r>
              <a:rPr lang="en-SG" dirty="0"/>
              <a:t>Our system automatically pulls customer information, reads the bank’s policy documents, and then applies the rules to produce a clear risk level, interest rate, and eligibility decision — </a:t>
            </a:r>
            <a:r>
              <a:rPr lang="en-SG" b="1" dirty="0"/>
              <a:t>without guessing or making assumptions</a:t>
            </a:r>
            <a:r>
              <a:rPr lang="en-SG" dirty="0"/>
              <a:t>.</a:t>
            </a:r>
          </a:p>
          <a:p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7472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8B757-6320-E22D-E2A7-B2B4AC1F0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F55BB-3449-B881-A30E-9C8B41591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Our System – Loan Risk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CC108-BCE9-7D98-0FAB-BF54F2D0D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SG" b="1" dirty="0"/>
              <a:t>Targeted Workflow Steps</a:t>
            </a:r>
          </a:p>
          <a:p>
            <a:r>
              <a:rPr lang="en-SG" dirty="0"/>
              <a:t>The proposed solution targets the most repetitive and error-prone stages of the current workflow. </a:t>
            </a:r>
          </a:p>
          <a:p>
            <a:r>
              <a:rPr lang="en-SG" dirty="0"/>
              <a:t>First, customer profile retrieval is automated to eliminate manual lookups and data re-entry. </a:t>
            </a:r>
          </a:p>
          <a:p>
            <a:r>
              <a:rPr lang="en-SG" dirty="0"/>
              <a:t>Second, policy interpretation is automated to ensure consistent mapping of credit score and account status to risk level and interest rate. </a:t>
            </a:r>
          </a:p>
          <a:p>
            <a:r>
              <a:rPr lang="en-SG" dirty="0"/>
              <a:t>Third, decision consolidation and override checks are centralised to prevent missed eligibility conditions. </a:t>
            </a:r>
          </a:p>
          <a:p>
            <a:r>
              <a:rPr lang="en-SG" dirty="0"/>
              <a:t>Finally, explanation generation is automated to provide consistent, transparent justifications to customers and internal stakeholders. This mirrors a real-world banking decision pipeline where policy interpretation and approval are separated for audit and compliance purposes.</a:t>
            </a:r>
          </a:p>
          <a:p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1029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172EE-9688-FCAD-9679-A27EB160E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409A4-33EB-48CC-34BF-0CA7AD8C5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Our System – Loan Risk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43B80-DC42-C733-6C7F-F7A423635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SG" b="1" u="sng" dirty="0"/>
              <a:t>Justification for Using GenAI </a:t>
            </a:r>
          </a:p>
          <a:p>
            <a:r>
              <a:rPr lang="en-SG" dirty="0"/>
              <a:t>GenAI is appropriate for this use case because loan policies are typically written in human-readable documents rather than executable code. </a:t>
            </a:r>
          </a:p>
          <a:p>
            <a:r>
              <a:rPr lang="en-SG" dirty="0"/>
              <a:t>GenAI can interpret policy content and apply it consistently without requiring extensive manual rule translation for every policy update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74203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89C15-5926-F641-6CF3-0606E04EC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32F97-9B3A-12E2-3909-050ECE37A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Our System – Loan Risk Assessment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D50E0-104C-0D6E-BAAF-BFE7CBAEC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SG" b="1" u="sng" dirty="0"/>
              <a:t>Success Metrics/KPIs </a:t>
            </a:r>
          </a:p>
          <a:p>
            <a:pPr lvl="0"/>
            <a:r>
              <a:rPr lang="en-SG" b="1" dirty="0"/>
              <a:t>Reduced Assessment Time</a:t>
            </a:r>
            <a:r>
              <a:rPr lang="en-SG" dirty="0"/>
              <a:t>: Average assessment time reduced from approximately 15 minutes to under 1 minute per case.</a:t>
            </a:r>
          </a:p>
          <a:p>
            <a:pPr lvl="0"/>
            <a:r>
              <a:rPr lang="en-SG" b="1" dirty="0"/>
              <a:t>Decision consistency:</a:t>
            </a:r>
            <a:r>
              <a:rPr lang="en-SG" dirty="0"/>
              <a:t> 100% of tested loan decisions matched the expected outcomes derived from the official policy documents and decision rules during validation testing.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3612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DE755-2F76-4CB0-3A1F-B94EA1A65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F234D-026D-D588-BFA7-EB9C657DA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Setup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FA8DE-41CC-5139-DADB-AB855AD77A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83686" cy="4351338"/>
          </a:xfrm>
        </p:spPr>
        <p:txBody>
          <a:bodyPr/>
          <a:lstStyle/>
          <a:p>
            <a:r>
              <a:rPr lang="en-SG" dirty="0"/>
              <a:t>First built and tested the prototype on </a:t>
            </a:r>
            <a:r>
              <a:rPr lang="en-SG" b="1" dirty="0" err="1"/>
              <a:t>Flowise</a:t>
            </a:r>
            <a:r>
              <a:rPr lang="en-SG" b="1" dirty="0"/>
              <a:t> Cloud - </a:t>
            </a:r>
            <a:r>
              <a:rPr lang="en-SG" dirty="0"/>
              <a:t>easy to prototype quickly without setting up servers</a:t>
            </a:r>
          </a:p>
          <a:p>
            <a:r>
              <a:rPr lang="en-SG" dirty="0"/>
              <a:t>Following by deploying built </a:t>
            </a:r>
            <a:r>
              <a:rPr lang="en-SG" dirty="0" err="1"/>
              <a:t>flowise</a:t>
            </a:r>
            <a:r>
              <a:rPr lang="en-SG" dirty="0"/>
              <a:t> agents on </a:t>
            </a:r>
            <a:r>
              <a:rPr lang="en-SG" b="1" dirty="0"/>
              <a:t>Render (</a:t>
            </a:r>
            <a:r>
              <a:rPr lang="en-SG" dirty="0"/>
              <a:t>Cloud Application Platform)</a:t>
            </a:r>
          </a:p>
          <a:p>
            <a:r>
              <a:rPr lang="en-SG" dirty="0"/>
              <a:t>, using this public link: </a:t>
            </a:r>
            <a:r>
              <a:rPr lang="en-SG" u="sng" dirty="0">
                <a:hlinkClick r:id="rId3"/>
              </a:rPr>
              <a:t>https://iti122assignmentteam9.onrender.com/</a:t>
            </a:r>
            <a:r>
              <a:rPr lang="en-SG" u="sng" dirty="0"/>
              <a:t>  </a:t>
            </a:r>
          </a:p>
          <a:p>
            <a:pPr marL="0" indent="0">
              <a:buNone/>
            </a:pPr>
            <a:r>
              <a:rPr lang="en-SG" dirty="0"/>
              <a:t>simulate how it could eventually run in a real production environment</a:t>
            </a:r>
          </a:p>
          <a:p>
            <a:pPr marL="0" indent="0">
              <a:buNone/>
            </a:pP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5505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3E387-8F25-4B70-9C49-AA568D88B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EB6E6-47C9-0E8F-4BDA-502867BB8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32" y="365125"/>
            <a:ext cx="11634627" cy="1325563"/>
          </a:xfrm>
        </p:spPr>
        <p:txBody>
          <a:bodyPr/>
          <a:lstStyle/>
          <a:p>
            <a:r>
              <a:rPr lang="en-SG" dirty="0"/>
              <a:t>Direct </a:t>
            </a:r>
            <a:r>
              <a:rPr lang="en-SG" dirty="0" err="1"/>
              <a:t>FlowiseAI</a:t>
            </a:r>
            <a:r>
              <a:rPr lang="en-SG" dirty="0"/>
              <a:t> vs </a:t>
            </a:r>
            <a:r>
              <a:rPr lang="en-SG" dirty="0" err="1"/>
              <a:t>FlowiseAI</a:t>
            </a:r>
            <a:r>
              <a:rPr lang="en-SG" dirty="0"/>
              <a:t> in Render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719F26E-7AFA-1669-059B-CA088B4D2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456747"/>
              </p:ext>
            </p:extLst>
          </p:nvPr>
        </p:nvGraphicFramePr>
        <p:xfrm>
          <a:off x="577515" y="1690688"/>
          <a:ext cx="10996863" cy="311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5621">
                  <a:extLst>
                    <a:ext uri="{9D8B030D-6E8A-4147-A177-3AD203B41FA5}">
                      <a16:colId xmlns:a16="http://schemas.microsoft.com/office/drawing/2014/main" val="1250643189"/>
                    </a:ext>
                  </a:extLst>
                </a:gridCol>
                <a:gridCol w="3665621">
                  <a:extLst>
                    <a:ext uri="{9D8B030D-6E8A-4147-A177-3AD203B41FA5}">
                      <a16:colId xmlns:a16="http://schemas.microsoft.com/office/drawing/2014/main" val="10245697"/>
                    </a:ext>
                  </a:extLst>
                </a:gridCol>
                <a:gridCol w="3665621">
                  <a:extLst>
                    <a:ext uri="{9D8B030D-6E8A-4147-A177-3AD203B41FA5}">
                      <a16:colId xmlns:a16="http://schemas.microsoft.com/office/drawing/2014/main" val="14120646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Direct </a:t>
                      </a:r>
                      <a:r>
                        <a:rPr lang="en-SG" dirty="0" err="1"/>
                        <a:t>FlowiseAI</a:t>
                      </a:r>
                      <a:r>
                        <a:rPr lang="en-SG" dirty="0"/>
                        <a:t>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 err="1"/>
                        <a:t>FlowiseAI</a:t>
                      </a:r>
                      <a:r>
                        <a:rPr lang="en-SG" dirty="0"/>
                        <a:t> in Render Cloud </a:t>
                      </a:r>
                      <a:r>
                        <a:rPr lang="en-SG" dirty="0">
                          <a:solidFill>
                            <a:srgbClr val="FF0000"/>
                          </a:solidFill>
                        </a:rPr>
                        <a:t>(Chosen)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8079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60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Purpose</a:t>
                      </a:r>
                      <a:endParaRPr lang="en-SG" sz="14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60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Managed development and testing environment</a:t>
                      </a:r>
                      <a:endParaRPr lang="en-SG" sz="14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60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Self-hosted production deployment</a:t>
                      </a:r>
                      <a:endParaRPr lang="en-SG" sz="14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1769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60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Cost (Starter Tier)</a:t>
                      </a:r>
                      <a:endParaRPr lang="en-SG" sz="14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60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USD 35/month</a:t>
                      </a:r>
                      <a:endParaRPr lang="en-SG" sz="14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60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USD7/month</a:t>
                      </a:r>
                      <a:endParaRPr lang="en-SG" sz="14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1413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60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Security and Access Control</a:t>
                      </a:r>
                      <a:endParaRPr lang="en-SG" sz="14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60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Fixed configuration, limited customization</a:t>
                      </a:r>
                      <a:endParaRPr lang="en-SG" sz="14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60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Full control over authentication, API keys, and data access – Application Security Provision</a:t>
                      </a:r>
                      <a:endParaRPr lang="en-SG" sz="14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584916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60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Deployment Speed</a:t>
                      </a:r>
                      <a:endParaRPr lang="en-SG" sz="14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60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Slower (shared public infrastructure)</a:t>
                      </a:r>
                      <a:endParaRPr lang="en-SG" sz="14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60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Faster (dedicated private instance)</a:t>
                      </a:r>
                      <a:endParaRPr lang="en-SG" sz="14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7941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60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Licence</a:t>
                      </a:r>
                      <a:endParaRPr lang="en-SG" sz="14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60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Open-Source</a:t>
                      </a:r>
                      <a:endParaRPr lang="en-SG" sz="140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SG" sz="1600" dirty="0">
                          <a:effectLst/>
                          <a:latin typeface="Times New Roman" panose="02020603050405020304" pitchFamily="18" charset="0"/>
                          <a:ea typeface="MS Mincho" panose="02020609040205080304" pitchFamily="49" charset="-128"/>
                          <a:cs typeface="Times New Roman" panose="02020603050405020304" pitchFamily="18" charset="0"/>
                        </a:rPr>
                        <a:t>commercial hosting platform</a:t>
                      </a:r>
                      <a:endParaRPr lang="en-SG" sz="1400" dirty="0">
                        <a:effectLst/>
                        <a:latin typeface="Calibri" panose="020F0502020204030204" pitchFamily="34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12010893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30726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75F29-DF8E-16FB-9619-82F31A0CC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6B2F2-D4EC-8FEB-51A7-4F68F241A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Document Store in </a:t>
            </a:r>
            <a:r>
              <a:rPr lang="en-SG" dirty="0" err="1"/>
              <a:t>Flowise</a:t>
            </a:r>
            <a:r>
              <a:rPr lang="en-SG" dirty="0"/>
              <a:t> – RAG Concept</a:t>
            </a:r>
            <a:br>
              <a:rPr lang="en-SG" dirty="0"/>
            </a:br>
            <a:r>
              <a:rPr lang="en-SG" dirty="0"/>
              <a:t>(For Retrieval/Easy Updating)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15DAB9-21C7-D15A-0375-2695327DD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402" y="1768491"/>
            <a:ext cx="11496782" cy="508951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52493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8F5D2-DA05-0AF7-076F-14A0D975A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7197C-446D-6894-FF59-93D1E7804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Our Sample Database (In Summary)</a:t>
            </a:r>
            <a:br>
              <a:rPr lang="en-SG" dirty="0"/>
            </a:br>
            <a:r>
              <a:rPr lang="en-SG" dirty="0"/>
              <a:t>For Self-Verification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55F47E-1EA2-5F97-E41B-7846AD775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6" y="2752630"/>
            <a:ext cx="12022228" cy="135273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157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2C4E2-545D-5925-743D-5EAB5F933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883E7-CED2-E314-AD68-6483E83CB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Governance AI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96A2F-3A09-082E-8A4E-9E8909979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83686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SG" b="1" dirty="0"/>
              <a:t>Transparency &amp; Explainability </a:t>
            </a:r>
          </a:p>
          <a:p>
            <a:endParaRPr lang="en-SG" dirty="0"/>
          </a:p>
          <a:p>
            <a:r>
              <a:rPr lang="en-SG" dirty="0"/>
              <a:t>The system should clearly </a:t>
            </a:r>
            <a:r>
              <a:rPr lang="en-US" dirty="0"/>
              <a:t>show </a:t>
            </a:r>
            <a:r>
              <a:rPr lang="en-US" b="1" dirty="0"/>
              <a:t>how</a:t>
            </a:r>
            <a:r>
              <a:rPr lang="en-US" dirty="0"/>
              <a:t> it reached a decision.</a:t>
            </a:r>
          </a:p>
          <a:p>
            <a:r>
              <a:rPr lang="en-US" dirty="0"/>
              <a:t>Users should understand key factors influencing outcomes (e.g., credit score, account status).</a:t>
            </a:r>
          </a:p>
          <a:p>
            <a:r>
              <a:rPr lang="en-US" dirty="0"/>
              <a:t>AI decisions must align with official bank policy documents. </a:t>
            </a:r>
          </a:p>
          <a:p>
            <a:pPr marL="0" indent="0">
              <a:buNone/>
            </a:pPr>
            <a:r>
              <a:rPr lang="en-SG" b="1" dirty="0"/>
              <a:t>Human Oversight (Human-in-the-Loop)</a:t>
            </a:r>
          </a:p>
          <a:p>
            <a:pPr marL="0" indent="0">
              <a:buNone/>
            </a:pPr>
            <a:endParaRPr lang="en-SG" b="1" dirty="0"/>
          </a:p>
          <a:p>
            <a:r>
              <a:rPr lang="en-US" dirty="0"/>
              <a:t>AI assists — it does </a:t>
            </a:r>
            <a:r>
              <a:rPr lang="en-US" b="1" dirty="0"/>
              <a:t>not</a:t>
            </a:r>
            <a:r>
              <a:rPr lang="en-US" dirty="0"/>
              <a:t> replace final decision makers.</a:t>
            </a:r>
          </a:p>
          <a:p>
            <a:r>
              <a:rPr lang="en-US" dirty="0"/>
              <a:t>Risky or unusual cases should be escalated to humans</a:t>
            </a:r>
          </a:p>
          <a:p>
            <a:r>
              <a:rPr lang="en-US" dirty="0"/>
              <a:t>Humans can override the AI if needed.</a:t>
            </a: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2850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92947-F6CA-AFBA-C0A5-91F38EDF9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B0043-0D30-537A-5D53-EEC2C7B24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Limitations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BAC69-A4B8-AF3C-2245-73ADA4F25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83686" cy="4351338"/>
          </a:xfrm>
        </p:spPr>
        <p:txBody>
          <a:bodyPr/>
          <a:lstStyle/>
          <a:p>
            <a:pPr lvl="0"/>
            <a:r>
              <a:rPr lang="en-SG" dirty="0"/>
              <a:t>Final approval still requires human judgment. (Human-in-the-loop)</a:t>
            </a:r>
          </a:p>
          <a:p>
            <a:pPr lvl="0"/>
            <a:r>
              <a:rPr lang="en-SG" dirty="0"/>
              <a:t>Model is dependent on correctness of underlying documents.</a:t>
            </a:r>
          </a:p>
          <a:p>
            <a:pPr lvl="0"/>
            <a:r>
              <a:rPr lang="en-SG" dirty="0"/>
              <a:t>More stress-case testing would be required in real production.</a:t>
            </a:r>
          </a:p>
          <a:p>
            <a:pPr marL="0" indent="0">
              <a:buNone/>
            </a:pPr>
            <a:endParaRPr lang="en-SG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429867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CF8294-E50F-7C48-6F18-6D9EFD2D6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7943"/>
            <a:ext cx="12192000" cy="550289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A3C4137-D716-2774-1AEA-5FC1DB0F8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2960"/>
            <a:ext cx="10515600" cy="1325563"/>
          </a:xfrm>
        </p:spPr>
        <p:txBody>
          <a:bodyPr/>
          <a:lstStyle/>
          <a:p>
            <a:r>
              <a:rPr lang="en-SG" dirty="0"/>
              <a:t>Server Deployment… @ Render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5870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01DF7B-A53A-E32C-D13B-402AEEA0B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1850"/>
            <a:ext cx="12192000" cy="523429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DDE7599-DC4F-2065-72D4-0A8D8EE9A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2960"/>
            <a:ext cx="10515600" cy="1325563"/>
          </a:xfrm>
        </p:spPr>
        <p:txBody>
          <a:bodyPr/>
          <a:lstStyle/>
          <a:p>
            <a:r>
              <a:rPr lang="en-SG" dirty="0" err="1"/>
              <a:t>AgentFlow</a:t>
            </a:r>
            <a:r>
              <a:rPr lang="en-SG" dirty="0"/>
              <a:t> Overview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36468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1003</Words>
  <Application>Microsoft Office PowerPoint</Application>
  <PresentationFormat>Widescreen</PresentationFormat>
  <Paragraphs>96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Times New Roman</vt:lpstr>
      <vt:lpstr>Office Theme</vt:lpstr>
      <vt:lpstr>ITI122 Assignment GenAI Prototype Presentation</vt:lpstr>
      <vt:lpstr>Problem Analysis</vt:lpstr>
      <vt:lpstr>Pain Points, Inefficiencies, and Bottlenecks</vt:lpstr>
      <vt:lpstr>Pain Points, Inefficiencies, and Bottlenecks</vt:lpstr>
      <vt:lpstr>Pain Points, Inefficiencies, and Bottlenecks</vt:lpstr>
      <vt:lpstr>Pain Points, Inefficiencies, and Bottlenecks</vt:lpstr>
      <vt:lpstr>Our System – Loan Risk Assessment</vt:lpstr>
      <vt:lpstr>Our System – Loan Risk Assessment</vt:lpstr>
      <vt:lpstr>Our System – Loan Risk Assessment</vt:lpstr>
      <vt:lpstr>Our System – Loan Risk Assessment</vt:lpstr>
      <vt:lpstr>Setup </vt:lpstr>
      <vt:lpstr>Direct FlowiseAI vs FlowiseAI in Render</vt:lpstr>
      <vt:lpstr>Document Store in Flowise – RAG Concept (For Retrieval/Easy Updating)</vt:lpstr>
      <vt:lpstr>Our Sample Database (In Summary) For Self-Verification</vt:lpstr>
      <vt:lpstr>Governance AI </vt:lpstr>
      <vt:lpstr>Limitations </vt:lpstr>
      <vt:lpstr>Server Deployment… @ Render</vt:lpstr>
      <vt:lpstr>AgentFlow Overview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 ZHU QIHUI (SST)</dc:creator>
  <cp:lastModifiedBy># ZHU QIHUI (SST)</cp:lastModifiedBy>
  <cp:revision>8</cp:revision>
  <dcterms:created xsi:type="dcterms:W3CDTF">2026-01-07T09:53:04Z</dcterms:created>
  <dcterms:modified xsi:type="dcterms:W3CDTF">2026-01-10T16:14:02Z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20124F30-AF3F-42F5-A0F5-9A9754267B87</vt:lpwstr>
  </property>
  <property fmtid="{D5CDD505-2E9C-101B-9397-08002B2CF9AE}" pid="3" name="ArticulatePath">
    <vt:lpwstr>Presentation1</vt:lpwstr>
  </property>
</Properties>
</file>